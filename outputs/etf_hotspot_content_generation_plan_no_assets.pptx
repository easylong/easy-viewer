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tf_hotspot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960120"/>
            <a:ext cx="6766560" cy="1508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600" b="1">
                <a:solidFill>
                  <a:srgbClr val="17202A"/>
                </a:solidFill>
                <a:latin typeface="Microsoft YaHei"/>
              </a:rPr>
              <a:t>ETF热点解读
内容生成优化方案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70048"/>
            <a:ext cx="7132320" cy="3200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YaHei"/>
              </a:rPr>
              <a:t>从“新闻驱动生成”升级为“事件驱动决策”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3154680"/>
            <a:ext cx="585216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67085"/>
                </a:solidFill>
                <a:latin typeface="Microsoft YaHei"/>
              </a:rPr>
              <a:t>可筛选 · 可匹配 · 可解释 · 可持续优化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3749039"/>
            <a:ext cx="1234440" cy="347472"/>
          </a:xfrm>
          <a:prstGeom prst="roundRect">
            <a:avLst>
              <a:gd name="adj" fmla="val 50000"/>
            </a:avLst>
          </a:prstGeom>
          <a:solidFill>
            <a:srgbClr val="EEF4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563EB"/>
                </a:solidFill>
                <a:latin typeface="Microsoft YaHei"/>
              </a:rPr>
              <a:t>V1.0 汇报版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7202A"/>
                </a:solidFill>
                <a:latin typeface="Microsoft YaHei"/>
              </a:rPr>
              <a:t>一、现状问题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86384"/>
            <a:ext cx="9601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Microsoft YaHei"/>
              </a:rPr>
              <a:t>当前链路已使用事件结构化信息，但关键决策仍偏黑盒。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9848"/>
            <a:ext cx="91440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4983480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09928"/>
            <a:ext cx="43891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7202A"/>
                </a:solidFill>
                <a:latin typeface="Microsoft YaHei"/>
              </a:rPr>
              <a:t>1. 热点质量不稳定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67128"/>
            <a:ext cx="4434840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50" b="0">
                <a:solidFill>
                  <a:srgbClr val="667085"/>
                </a:solidFill>
                <a:latin typeface="Microsoft YaHei"/>
              </a:rPr>
              <a:t>热度高不等于 ETF 有投资意义，低价值新闻也会进入生成。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08760"/>
            <a:ext cx="4983480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709928"/>
            <a:ext cx="43891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7202A"/>
                </a:solidFill>
                <a:latin typeface="Microsoft YaHei"/>
              </a:rPr>
              <a:t>2. 缺少市场验证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167128"/>
            <a:ext cx="4434840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50" b="0">
                <a:solidFill>
                  <a:srgbClr val="667085"/>
                </a:solidFill>
                <a:latin typeface="Microsoft YaHei"/>
              </a:rPr>
              <a:t>新闻影响没有结合指数、板块、ETF 成交与涨跌表现验证。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3566160"/>
            <a:ext cx="4983480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767328"/>
            <a:ext cx="43891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7202A"/>
                </a:solidFill>
                <a:latin typeface="Microsoft YaHei"/>
              </a:rPr>
              <a:t>3. ETF匹配偏黑盒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224528"/>
            <a:ext cx="4434840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50" b="0">
                <a:solidFill>
                  <a:srgbClr val="667085"/>
                </a:solidFill>
                <a:latin typeface="Microsoft YaHei"/>
              </a:rPr>
              <a:t>LLM 直接关联 ETF，缺少稳定评分和可复核依据。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566160"/>
            <a:ext cx="4983480" cy="14173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3767328"/>
            <a:ext cx="43891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7202A"/>
                </a:solidFill>
                <a:latin typeface="Microsoft YaHei"/>
              </a:rPr>
              <a:t>4. 推荐证据链不足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224528"/>
            <a:ext cx="4434840" cy="4754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50" b="0">
                <a:solidFill>
                  <a:srgbClr val="667085"/>
                </a:solidFill>
                <a:latin typeface="Microsoft YaHei"/>
              </a:rPr>
              <a:t>用户看不到为什么推荐这只 ETF，容易产生“不可信”感。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7202A"/>
                </a:solidFill>
                <a:latin typeface="Microsoft YaHei"/>
              </a:rPr>
              <a:t>二、目标流程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86384"/>
            <a:ext cx="9601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Microsoft YaHei"/>
              </a:rPr>
              <a:t>把内容生产拆成“立项、匹配、生成、校验”四个可解释阶段。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9848"/>
            <a:ext cx="91440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2240280"/>
            <a:ext cx="1508760" cy="10058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2441448"/>
            <a:ext cx="12801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7202A"/>
                </a:solidFill>
                <a:latin typeface="Microsoft YaHei"/>
              </a:rPr>
              <a:t>事件结构化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761488"/>
            <a:ext cx="12801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Microsoft YaHei"/>
              </a:rPr>
              <a:t>Event Object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11680" y="2743200"/>
            <a:ext cx="32004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377439" y="2240280"/>
            <a:ext cx="1508760" cy="1005840"/>
          </a:xfrm>
          <a:prstGeom prst="roundRect">
            <a:avLst>
              <a:gd name="adj" fmla="val 8000"/>
            </a:avLst>
          </a:prstGeom>
          <a:solidFill>
            <a:srgbClr val="EEF4FF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87168" y="2441448"/>
            <a:ext cx="12801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7202A"/>
                </a:solidFill>
                <a:latin typeface="Microsoft YaHei"/>
              </a:rPr>
              <a:t>投资热点立项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87168" y="2761488"/>
            <a:ext cx="12801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Microsoft YaHei"/>
              </a:rPr>
              <a:t>Topic Score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86200" y="2743200"/>
            <a:ext cx="32004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251959" y="2240280"/>
            <a:ext cx="1508760" cy="1005840"/>
          </a:xfrm>
          <a:prstGeom prst="roundRect">
            <a:avLst>
              <a:gd name="adj" fmla="val 8000"/>
            </a:avLst>
          </a:prstGeom>
          <a:solidFill>
            <a:srgbClr val="EEF4FF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61688" y="2441448"/>
            <a:ext cx="12801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7202A"/>
                </a:solidFill>
                <a:latin typeface="Microsoft YaHei"/>
              </a:rPr>
              <a:t>ETF多维评分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1688" y="2761488"/>
            <a:ext cx="12801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Microsoft YaHei"/>
              </a:rPr>
              <a:t>Match Score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760719" y="2743200"/>
            <a:ext cx="32004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126479" y="2240280"/>
            <a:ext cx="1508760" cy="1005840"/>
          </a:xfrm>
          <a:prstGeom prst="roundRect">
            <a:avLst>
              <a:gd name="adj" fmla="val 8000"/>
            </a:avLst>
          </a:prstGeom>
          <a:solidFill>
            <a:srgbClr val="EEF4FF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6207" y="2441448"/>
            <a:ext cx="12801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7202A"/>
                </a:solidFill>
                <a:latin typeface="Microsoft YaHei"/>
              </a:rPr>
              <a:t>推荐理由生成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6207" y="2761488"/>
            <a:ext cx="12801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Microsoft YaHei"/>
              </a:rPr>
              <a:t>Explain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35240" y="2743200"/>
            <a:ext cx="320039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001000" y="2240280"/>
            <a:ext cx="1508760" cy="10058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10727" y="2441448"/>
            <a:ext cx="12801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7202A"/>
                </a:solidFill>
                <a:latin typeface="Microsoft YaHei"/>
              </a:rPr>
              <a:t>热点解读生成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10727" y="2761488"/>
            <a:ext cx="12801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Microsoft YaHei"/>
              </a:rPr>
              <a:t>Content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509760" y="2743200"/>
            <a:ext cx="32004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875520" y="2240280"/>
            <a:ext cx="1508760" cy="10058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85248" y="2441448"/>
            <a:ext cx="128016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17202A"/>
                </a:solidFill>
                <a:latin typeface="Microsoft YaHei"/>
              </a:rPr>
              <a:t>质量校验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85248" y="2761488"/>
            <a:ext cx="128016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950" b="0">
                <a:solidFill>
                  <a:srgbClr val="667085"/>
                </a:solidFill>
                <a:latin typeface="Microsoft YaHei"/>
              </a:rPr>
              <a:t>QA Check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434840"/>
            <a:ext cx="1024128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2563EB"/>
                </a:solidFill>
                <a:latin typeface="Microsoft YaHei"/>
              </a:rPr>
              <a:t>核心变化：不是看到新闻就写，而是先判断“值得写吗、匹配谁、为什么”。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7202A"/>
                </a:solidFill>
                <a:latin typeface="Microsoft YaHei"/>
              </a:rPr>
              <a:t>三、热点立项：Topic Score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86384"/>
            <a:ext cx="9601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Microsoft YaHei"/>
              </a:rPr>
              <a:t>先筛选“值得写的投资热点”，过滤传播热但投资意义弱的新闻。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9848"/>
            <a:ext cx="91440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10789920" cy="4389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73736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FEEEE"/>
          </a:solidFill>
          <a:ln>
            <a:solidFill>
              <a:srgbClr val="DC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DC5A5A"/>
                </a:solidFill>
                <a:latin typeface="Microsoft YaHei"/>
              </a:rPr>
              <a:t>新闻价值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783080"/>
            <a:ext cx="77724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7202A"/>
                </a:solidFill>
                <a:latin typeface="Microsoft YaHei"/>
              </a:rPr>
              <a:t>20%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792224"/>
            <a:ext cx="621792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667085"/>
                </a:solidFill>
                <a:latin typeface="Microsoft YaHei"/>
              </a:rPr>
              <a:t>传播性、关注度、事件新鲜度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2542032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EEF4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563EB"/>
                </a:solidFill>
                <a:latin typeface="Microsoft YaHei"/>
              </a:rPr>
              <a:t>市场验证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587751"/>
            <a:ext cx="77724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7202A"/>
                </a:solidFill>
                <a:latin typeface="Microsoft YaHei"/>
              </a:rPr>
              <a:t>40%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596896"/>
            <a:ext cx="621792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667085"/>
                </a:solidFill>
                <a:latin typeface="Microsoft YaHei"/>
              </a:rPr>
              <a:t>相关板块/指数/ETF是否上涨、放量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3346704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FEEEE"/>
          </a:solidFill>
          <a:ln>
            <a:solidFill>
              <a:srgbClr val="DC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DC5A5A"/>
                </a:solidFill>
                <a:latin typeface="Microsoft YaHei"/>
              </a:rPr>
              <a:t>投资逻辑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392424"/>
            <a:ext cx="77724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7202A"/>
                </a:solidFill>
                <a:latin typeface="Microsoft YaHei"/>
              </a:rPr>
              <a:t>20%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3401568"/>
            <a:ext cx="621792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667085"/>
                </a:solidFill>
                <a:latin typeface="Microsoft YaHei"/>
              </a:rPr>
              <a:t>是否具备持续影响和产业链逻辑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" y="4151376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FFEEEE"/>
          </a:solidFill>
          <a:ln>
            <a:solidFill>
              <a:srgbClr val="DC5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DC5A5A"/>
                </a:solidFill>
                <a:latin typeface="Microsoft YaHei"/>
              </a:rPr>
              <a:t>ETF关联性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4197096"/>
            <a:ext cx="77724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1">
                <a:solidFill>
                  <a:srgbClr val="17202A"/>
                </a:solidFill>
                <a:latin typeface="Microsoft YaHei"/>
              </a:rPr>
              <a:t>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4206240"/>
            <a:ext cx="621792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0">
                <a:solidFill>
                  <a:srgbClr val="667085"/>
                </a:solidFill>
                <a:latin typeface="Microsoft YaHei"/>
              </a:rPr>
              <a:t>能否清晰关联固定基金池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5166360"/>
            <a:ext cx="9875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7202A"/>
                </a:solidFill>
                <a:latin typeface="Microsoft YaHei"/>
              </a:rPr>
              <a:t>建议阈值：Topic Score ≥ 70 才进入创作；低于阈值只记录事件，不生成正文。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7202A"/>
                </a:solidFill>
                <a:latin typeface="Microsoft YaHei"/>
              </a:rPr>
              <a:t>四、ETF匹配：固定基金池排序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86384"/>
            <a:ext cx="9601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Microsoft YaHei"/>
              </a:rPr>
              <a:t>目标不是全市场推荐，而是在既定基金池中找出最契合当前事件的一只。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9848"/>
            <a:ext cx="91440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5544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7202A"/>
                </a:solidFill>
                <a:latin typeface="Microsoft YaHei"/>
              </a:rPr>
              <a:t>主题一致性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1545336"/>
            <a:ext cx="5943600" cy="164592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0" y="1545336"/>
            <a:ext cx="5943600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15400" y="1490472"/>
            <a:ext cx="5029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Microsoft YaHei"/>
              </a:rPr>
              <a:t>30%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194560"/>
            <a:ext cx="15544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7202A"/>
                </a:solidFill>
                <a:latin typeface="Microsoft YaHei"/>
              </a:rPr>
              <a:t>受益逻辑一致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2231136"/>
            <a:ext cx="5943600" cy="164592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0" y="2231136"/>
            <a:ext cx="5943600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15400" y="2176272"/>
            <a:ext cx="5029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Microsoft YaHei"/>
              </a:rPr>
              <a:t>30%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880360"/>
            <a:ext cx="15544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7202A"/>
                </a:solidFill>
                <a:latin typeface="Microsoft YaHei"/>
              </a:rPr>
              <a:t>指数覆盖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2916936"/>
            <a:ext cx="5943600" cy="164592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0" y="2916936"/>
            <a:ext cx="3962399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15400" y="2862072"/>
            <a:ext cx="5029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Microsoft YaHei"/>
              </a:rPr>
              <a:t>20%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566160"/>
            <a:ext cx="15544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7202A"/>
                </a:solidFill>
                <a:latin typeface="Microsoft YaHei"/>
              </a:rPr>
              <a:t>投资逻辑一致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3602736"/>
            <a:ext cx="5943600" cy="164592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0" y="3602736"/>
            <a:ext cx="1981199" cy="164592"/>
          </a:xfrm>
          <a:prstGeom prst="rect">
            <a:avLst/>
          </a:prstGeom>
          <a:solidFill>
            <a:srgbClr val="DC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15400" y="3547872"/>
            <a:ext cx="5029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Microsoft YaHei"/>
              </a:rPr>
              <a:t>10%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51960"/>
            <a:ext cx="155448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17202A"/>
                </a:solidFill>
                <a:latin typeface="Microsoft YaHei"/>
              </a:rPr>
              <a:t>成分股关联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288536"/>
            <a:ext cx="5943600" cy="164592"/>
          </a:xfrm>
          <a:prstGeom prst="rect">
            <a:avLst/>
          </a:prstGeom>
          <a:solidFill>
            <a:srgbClr val="EE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0" y="4288536"/>
            <a:ext cx="1981199" cy="164592"/>
          </a:xfrm>
          <a:prstGeom prst="rect">
            <a:avLst/>
          </a:prstGeom>
          <a:solidFill>
            <a:srgbClr val="DC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15400" y="4233672"/>
            <a:ext cx="50292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67085"/>
                </a:solidFill>
                <a:latin typeface="Microsoft YaHei"/>
              </a:rPr>
              <a:t>10%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5074920"/>
            <a:ext cx="9966960" cy="566928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5257800"/>
            <a:ext cx="914400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7202A"/>
                </a:solidFill>
                <a:latin typeface="Microsoft YaHei"/>
              </a:rPr>
              <a:t>输出：推荐 ETF + 匹配分数 + 命中标签 + 推荐理由 + 风险提示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7202A"/>
                </a:solidFill>
                <a:latin typeface="Microsoft YaHei"/>
              </a:rPr>
              <a:t>五、热点解读内容结构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86384"/>
            <a:ext cx="9601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Microsoft YaHei"/>
              </a:rPr>
              <a:t>生成内容固定为专业、可解释、可复核的结构。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9848"/>
            <a:ext cx="91440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246120" cy="12344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73352"/>
            <a:ext cx="2743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7202A"/>
                </a:solidFill>
                <a:latin typeface="Microsoft YaHei"/>
              </a:rPr>
              <a:t>热点事件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75688"/>
            <a:ext cx="2743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67085"/>
                </a:solidFill>
                <a:latin typeface="Microsoft YaHei"/>
              </a:rPr>
              <a:t>发生了什么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417320"/>
            <a:ext cx="3246120" cy="12344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1673352"/>
            <a:ext cx="2743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7202A"/>
                </a:solidFill>
                <a:latin typeface="Microsoft YaHei"/>
              </a:rPr>
              <a:t>核心解读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075688"/>
            <a:ext cx="2743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67085"/>
                </a:solidFill>
                <a:latin typeface="Microsoft YaHei"/>
              </a:rPr>
              <a:t>背后的产业/政策/市场逻辑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417320"/>
            <a:ext cx="3246120" cy="12344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673352"/>
            <a:ext cx="2743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7202A"/>
                </a:solidFill>
                <a:latin typeface="Microsoft YaHei"/>
              </a:rPr>
              <a:t>市场验证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075688"/>
            <a:ext cx="2743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67085"/>
                </a:solidFill>
                <a:latin typeface="Microsoft YaHei"/>
              </a:rPr>
              <a:t>指数、板块、ETF表现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337560"/>
            <a:ext cx="3246120" cy="12344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593592"/>
            <a:ext cx="2743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7202A"/>
                </a:solidFill>
                <a:latin typeface="Microsoft YaHei"/>
              </a:rPr>
              <a:t>关联ETF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95928"/>
            <a:ext cx="2743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67085"/>
                </a:solidFill>
                <a:latin typeface="Microsoft YaHei"/>
              </a:rPr>
              <a:t>为什么利好这只ETF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3337560"/>
            <a:ext cx="3246120" cy="12344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60" y="3593592"/>
            <a:ext cx="2743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7202A"/>
                </a:solidFill>
                <a:latin typeface="Microsoft YaHei"/>
              </a:rPr>
              <a:t>后续观察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3995928"/>
            <a:ext cx="2743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67085"/>
                </a:solidFill>
                <a:latin typeface="Microsoft YaHei"/>
              </a:rPr>
              <a:t>2-3个跟踪点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3337560"/>
            <a:ext cx="3246120" cy="12344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3593592"/>
            <a:ext cx="2743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7202A"/>
                </a:solidFill>
                <a:latin typeface="Microsoft YaHei"/>
              </a:rPr>
              <a:t>风险提示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3995928"/>
            <a:ext cx="27432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150" b="0">
                <a:solidFill>
                  <a:srgbClr val="667085"/>
                </a:solidFill>
                <a:latin typeface="Microsoft YaHei"/>
              </a:rPr>
              <a:t>不确定性与波动风险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7202A"/>
                </a:solidFill>
                <a:latin typeface="Microsoft YaHei"/>
              </a:rPr>
              <a:t>六、质量校验规则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86384"/>
            <a:ext cx="9601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Microsoft YaHei"/>
              </a:rPr>
              <a:t>生成后必须经过规则校验，减少夸大、跑题和不可解释内容。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9848"/>
            <a:ext cx="91440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417320"/>
            <a:ext cx="10241280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563624"/>
            <a:ext cx="20116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Microsoft YaHei"/>
              </a:rPr>
              <a:t>不过度承诺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1563624"/>
            <a:ext cx="6858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50" b="0">
                <a:solidFill>
                  <a:srgbClr val="667085"/>
                </a:solidFill>
                <a:latin typeface="Microsoft YaHei"/>
              </a:rPr>
              <a:t>禁止“必涨、确定受益”等表达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221992"/>
            <a:ext cx="10241280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368296"/>
            <a:ext cx="20116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Microsoft YaHei"/>
              </a:rPr>
              <a:t>ETF关联清晰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368296"/>
            <a:ext cx="6858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50" b="0">
                <a:solidFill>
                  <a:srgbClr val="667085"/>
                </a:solidFill>
                <a:latin typeface="Microsoft YaHei"/>
              </a:rPr>
              <a:t>必须说明主题、指数或成分股逻辑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026664"/>
            <a:ext cx="10241280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172968"/>
            <a:ext cx="20116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Microsoft YaHei"/>
              </a:rPr>
              <a:t>市场验证完整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3172968"/>
            <a:ext cx="6858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50" b="0">
                <a:solidFill>
                  <a:srgbClr val="667085"/>
                </a:solidFill>
                <a:latin typeface="Microsoft YaHei"/>
              </a:rPr>
              <a:t>没有市场确认时必须说明“仍需观察”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831336"/>
            <a:ext cx="10241280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3977640"/>
            <a:ext cx="20116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Microsoft YaHei"/>
              </a:rPr>
              <a:t>风险提示必备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3977640"/>
            <a:ext cx="6858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50" b="0">
                <a:solidFill>
                  <a:srgbClr val="667085"/>
                </a:solidFill>
                <a:latin typeface="Microsoft YaHei"/>
              </a:rPr>
              <a:t>至少包含落地、波动、主题降温风险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636008"/>
            <a:ext cx="10241280" cy="5120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782312"/>
            <a:ext cx="20116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563EB"/>
                </a:solidFill>
                <a:latin typeface="Microsoft YaHei"/>
              </a:rPr>
              <a:t>事实一致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4782312"/>
            <a:ext cx="685800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50" b="0">
                <a:solidFill>
                  <a:srgbClr val="667085"/>
                </a:solidFill>
                <a:latin typeface="Microsoft YaHei"/>
              </a:rPr>
              <a:t>不编造成分股、指数和机构观点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7202A"/>
                </a:solidFill>
                <a:latin typeface="Microsoft YaHei"/>
              </a:rPr>
              <a:t>七、落地路径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86384"/>
            <a:ext cx="9601200" cy="2560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50" b="0">
                <a:solidFill>
                  <a:srgbClr val="667085"/>
                </a:solidFill>
                <a:latin typeface="Microsoft YaHei"/>
              </a:rPr>
              <a:t>建议先做最小闭环，再逐步丰富评分维度和知识库。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69848"/>
            <a:ext cx="91440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920240"/>
            <a:ext cx="2240280" cy="21488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12848"/>
            <a:ext cx="10058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icrosoft YaHei"/>
              </a:rPr>
              <a:t>阶段1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97480"/>
            <a:ext cx="178308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7202A"/>
                </a:solidFill>
                <a:latin typeface="Microsoft YaHei"/>
              </a:rPr>
              <a:t>建立事件对象
Topic Score基础版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26080" y="2971800"/>
            <a:ext cx="4572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74720" y="1920240"/>
            <a:ext cx="2240280" cy="21488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2212848"/>
            <a:ext cx="10058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icrosoft YaHei"/>
              </a:rPr>
              <a:t>阶段2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697480"/>
            <a:ext cx="178308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7202A"/>
                </a:solidFill>
                <a:latin typeface="Microsoft YaHei"/>
              </a:rPr>
              <a:t>维护基金画像
ETF Match Score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715000" y="2971800"/>
            <a:ext cx="4572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263640" y="1920240"/>
            <a:ext cx="2240280" cy="21488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212848"/>
            <a:ext cx="10058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icrosoft YaHei"/>
              </a:rPr>
              <a:t>阶段3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697480"/>
            <a:ext cx="178308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7202A"/>
                </a:solidFill>
                <a:latin typeface="Microsoft YaHei"/>
              </a:rPr>
              <a:t>生成推荐理由
接入内容模板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503920" y="2971800"/>
            <a:ext cx="4572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052559" y="1920240"/>
            <a:ext cx="2240280" cy="214884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81159" y="2212848"/>
            <a:ext cx="10058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500" b="1">
                <a:solidFill>
                  <a:srgbClr val="2563EB"/>
                </a:solidFill>
                <a:latin typeface="Microsoft YaHei"/>
              </a:rPr>
              <a:t>阶段4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59" y="2697480"/>
            <a:ext cx="1783080" cy="7315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00" b="0">
                <a:solidFill>
                  <a:srgbClr val="17202A"/>
                </a:solidFill>
                <a:latin typeface="Microsoft YaHei"/>
              </a:rPr>
              <a:t>质量校验
反馈数据沉淀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937760"/>
            <a:ext cx="987552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17202A"/>
                </a:solidFill>
                <a:latin typeface="Microsoft YaHei"/>
              </a:rPr>
              <a:t>先保证“可筛选 + 可解释”，再追求更复杂的自动化。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804672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7202A"/>
                </a:solidFill>
                <a:latin typeface="Microsoft YaHei"/>
              </a:rPr>
              <a:t>八、核心结论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9848"/>
            <a:ext cx="914400" cy="411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6949440" cy="10058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7202A"/>
                </a:solidFill>
                <a:latin typeface="Microsoft YaHei"/>
              </a:rPr>
              <a:t>从 News Driven Generation
升级为 Event Driven Decision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" y="2880360"/>
            <a:ext cx="10012680" cy="1463040"/>
          </a:xfrm>
          <a:prstGeom prst="roundRect">
            <a:avLst>
              <a:gd name="adj" fmla="val 8000"/>
            </a:avLst>
          </a:prstGeom>
          <a:solidFill>
            <a:srgbClr val="EEF4FF"/>
          </a:solidFill>
          <a:ln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3127248"/>
            <a:ext cx="1828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Microsoft YaHei"/>
              </a:rPr>
              <a:t>三个关键决策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3063240"/>
            <a:ext cx="6949440" cy="868680"/>
          </a:xfrm>
          <a:prstGeom prst="rect">
            <a:avLst/>
          </a:prstGeom>
          <a:noFill/>
        </p:spPr>
        <p:txBody>
          <a:bodyPr wrap="none" lIns="45720" rIns="0" tIns="0" bIns="0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7202A"/>
                </a:solidFill>
                <a:latin typeface="Microsoft YaHei"/>
              </a:defRPr>
            </a:pPr>
            <a:r>
              <a:t>这个热点值不值得做？</a:t>
            </a:r>
          </a:p>
          <a:p>
            <a:pPr>
              <a:spcAft>
                <a:spcPts val="700"/>
              </a:spcAft>
              <a:defRPr sz="1500">
                <a:solidFill>
                  <a:srgbClr val="17202A"/>
                </a:solidFill>
                <a:latin typeface="Microsoft YaHei"/>
              </a:defRPr>
            </a:pPr>
            <a:r>
              <a:t>固定基金池中哪只 ETF 最契合？</a:t>
            </a:r>
          </a:p>
          <a:p>
            <a:pPr>
              <a:spcAft>
                <a:spcPts val="700"/>
              </a:spcAft>
              <a:defRPr sz="1500">
                <a:solidFill>
                  <a:srgbClr val="17202A"/>
                </a:solidFill>
                <a:latin typeface="Microsoft YaHei"/>
              </a:defRPr>
            </a:pPr>
            <a:r>
              <a:t>为什么推荐这只 ETF？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956048"/>
            <a:ext cx="987552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17202A"/>
                </a:solidFill>
                <a:latin typeface="Microsoft YaHei"/>
              </a:rPr>
              <a:t>结果：热点质量更稳定，ETF匹配更可解释，内容更专业，也更容易持续优化。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